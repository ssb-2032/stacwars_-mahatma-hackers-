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Montserra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.fntdata"/><Relationship Id="rId6" Type="http://schemas.openxmlformats.org/officeDocument/2006/relationships/slide" Target="slides/slide1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6.png"/><Relationship Id="rId4" Type="http://schemas.openxmlformats.org/officeDocument/2006/relationships/image" Target="../media/image7.png"/><Relationship Id="rId5" Type="http://schemas.openxmlformats.org/officeDocument/2006/relationships/image" Target="../media/image20.png"/><Relationship Id="rId6" Type="http://schemas.openxmlformats.org/officeDocument/2006/relationships/image" Target="../media/image19.png"/><Relationship Id="rId7" Type="http://schemas.openxmlformats.org/officeDocument/2006/relationships/image" Target="../media/image3.png"/><Relationship Id="rId8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C1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715000" y="3825180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3042046" y="2489894"/>
            <a:ext cx="61080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STAC WARS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889349" y="2842319"/>
            <a:ext cx="64134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Aegis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042046" y="4091880"/>
            <a:ext cx="61080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PS4 Pitch Deck Submission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762000" y="2857500"/>
            <a:ext cx="114300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1181100" y="2719387"/>
            <a:ext cx="8834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FIRST INTERPLANETARY GAS STATION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1181100" y="3062287"/>
            <a:ext cx="9276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Asteroid Mining Concept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1181100" y="3862387"/>
            <a:ext cx="88344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Swarm Architecture &amp; Optical Mining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3199507"/>
            <a:ext cx="1428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4014787"/>
            <a:ext cx="1143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4830067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609600" y="1493639"/>
            <a:ext cx="685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09600" y="1836539"/>
            <a:ext cx="5860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The Gravity Bottleneck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904875" y="3147119"/>
            <a:ext cx="52863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Space exploration is severely limited by Earth's gravity well.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876300" y="3962400"/>
            <a:ext cx="53151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Lifting heavy rocket propellant into orbit costs thousands per kilogram.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4777680"/>
            <a:ext cx="52389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To explore deeper, we absolutely need fuel that is </a:t>
            </a:r>
            <a:r>
              <a:rPr b="0" i="1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already</a:t>
            </a: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in space.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334610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3868042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0" y="4683323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6096000" y="1640234"/>
            <a:ext cx="6096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THE SOLUTION</a:t>
            </a:r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6096000" y="1983134"/>
            <a:ext cx="5860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Near-Earth Optical Mining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6438900" y="3293715"/>
            <a:ext cx="5753100" cy="2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Targeting ice-rich Near-Earth Asteroids (NEAs).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6438900" y="3815655"/>
            <a:ext cx="52389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Focusing intense sunlight to bake water out, eliminating heavy mechanical drills.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6486525" y="4630935"/>
            <a:ext cx="51912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Deploying cheap, automated micro-satellites instead of massive monolithic ships.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/>
          <p:nvPr/>
        </p:nvSpPr>
        <p:spPr>
          <a:xfrm>
            <a:off x="609600" y="2143125"/>
            <a:ext cx="3454500" cy="3952800"/>
          </a:xfrm>
          <a:prstGeom prst="roundRect">
            <a:avLst>
              <a:gd fmla="val 44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4368849" y="2143125"/>
            <a:ext cx="3454500" cy="3952800"/>
          </a:xfrm>
          <a:prstGeom prst="roundRect">
            <a:avLst>
              <a:gd fmla="val 44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/>
          <p:nvPr/>
        </p:nvSpPr>
        <p:spPr>
          <a:xfrm>
            <a:off x="8128099" y="2143125"/>
            <a:ext cx="3454500" cy="3952800"/>
          </a:xfrm>
          <a:prstGeom prst="roundRect">
            <a:avLst>
              <a:gd fmla="val 4411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3925" y="25336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174" y="25336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42424" y="2533650"/>
            <a:ext cx="5334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90612" y="26860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49862" y="268605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66249" y="268605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7"/>
          <p:cNvSpPr txBox="1"/>
          <p:nvPr/>
        </p:nvSpPr>
        <p:spPr>
          <a:xfrm>
            <a:off x="-381000" y="762000"/>
            <a:ext cx="12954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TECHNOLOGY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-381000" y="1066800"/>
            <a:ext cx="12954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Swarm Architecture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923925" y="3295650"/>
            <a:ext cx="3708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Extraction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923925" y="3724275"/>
            <a:ext cx="29211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Inflatable solar reflectors concentrate heat to fracture surface rock and release vapor.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683174" y="3295650"/>
            <a:ext cx="3708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Capture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4683174" y="3724275"/>
            <a:ext cx="29211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Specialized cold traps instantly freeze the escaping vapor into harvestable ice blocks.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8442424" y="3295650"/>
            <a:ext cx="37089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Transport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8442424" y="3724275"/>
            <a:ext cx="2921100" cy="7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Automated drone ships carry the secured ice payloads back to stable Earth orbits.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7" name="Google Shape;14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05600" y="0"/>
            <a:ext cx="54864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" y="2947987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" y="3763267"/>
            <a:ext cx="21907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9600" y="4578548"/>
            <a:ext cx="238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8"/>
          <p:cNvSpPr txBox="1"/>
          <p:nvPr/>
        </p:nvSpPr>
        <p:spPr>
          <a:xfrm>
            <a:off x="609600" y="1745009"/>
            <a:ext cx="6858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BUSINESS MODEL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609600" y="2087909"/>
            <a:ext cx="72009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Selling in Orbit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952500" y="2895600"/>
            <a:ext cx="52389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Bringing asteroid water back to Earth ruins the profit margin entirely.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981075" y="3710880"/>
            <a:ext cx="52101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refine the ice into pure Hydrogen and Oxygen propellant directly in orbit.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000125" y="4526160"/>
            <a:ext cx="5191200" cy="5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We sell to LEO satellite companies at a massive discount compared to Earth-launches.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C1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91200" y="1862137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1395412" y="2776537"/>
            <a:ext cx="94011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Fueling the Next Frontier</a:t>
            </a:r>
            <a:endParaRPr/>
          </a:p>
        </p:txBody>
      </p:sp>
      <p:sp>
        <p:nvSpPr>
          <p:cNvPr id="162" name="Google Shape;162;p19"/>
          <p:cNvSpPr txBox="1"/>
          <p:nvPr/>
        </p:nvSpPr>
        <p:spPr>
          <a:xfrm>
            <a:off x="1333500" y="3652837"/>
            <a:ext cx="9525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Project Aegis isn't just mining rock; it's building the foundational infrastructure for humanity's expansion into the solar system.</a:t>
            </a:r>
            <a:endParaRPr/>
          </a:p>
        </p:txBody>
      </p:sp>
      <p:sp>
        <p:nvSpPr>
          <p:cNvPr id="163" name="Google Shape;163;p19"/>
          <p:cNvSpPr txBox="1"/>
          <p:nvPr/>
        </p:nvSpPr>
        <p:spPr>
          <a:xfrm>
            <a:off x="4208859" y="4795837"/>
            <a:ext cx="37743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THANK YOU. READY FOR Q&amp;A.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"/>
          <p:cNvSpPr txBox="1"/>
          <p:nvPr/>
        </p:nvSpPr>
        <p:spPr>
          <a:xfrm>
            <a:off x="762000" y="476250"/>
            <a:ext cx="106680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ATTRIBUTION</a:t>
            </a:r>
            <a:endParaRPr b="1" sz="11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Image Sources</a:t>
            </a:r>
            <a:endParaRPr b="1" sz="32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69" name="Google Shape;169;p20"/>
          <p:cNvGrpSpPr/>
          <p:nvPr/>
        </p:nvGrpSpPr>
        <p:grpSpPr>
          <a:xfrm>
            <a:off x="762000" y="1524000"/>
            <a:ext cx="10668000" cy="1238400"/>
            <a:chOff x="762000" y="1524000"/>
            <a:chExt cx="10668000" cy="1238400"/>
          </a:xfrm>
        </p:grpSpPr>
        <p:sp>
          <p:nvSpPr>
            <p:cNvPr id="170" name="Google Shape;170;p20"/>
            <p:cNvSpPr/>
            <p:nvPr/>
          </p:nvSpPr>
          <p:spPr>
            <a:xfrm>
              <a:off x="762000" y="1524000"/>
              <a:ext cx="10668000" cy="1238400"/>
            </a:xfrm>
            <a:prstGeom prst="roundRect">
              <a:avLst>
                <a:gd fmla="val 9230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0"/>
            <p:cNvSpPr txBox="1"/>
            <p:nvPr/>
          </p:nvSpPr>
          <p:spPr>
            <a:xfrm>
              <a:off x="2381250" y="1666875"/>
              <a:ext cx="8763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1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Source: www.istockphoto.com</a:t>
              </a:r>
              <a:endParaRPr b="1" sz="91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7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https://media.istockphoto.com/id/2148304895/photo/rocket-launch-into-the-blue-starry-sky-space-wallpaper.jpg?s=612x612&amp;w=0&amp;k=20&amp;c=qRidRXDnJFjPaLhNVaUR7mEwcZ6ZaDCQYrWAfajQH7Y=</a:t>
              </a:r>
              <a:endParaRPr sz="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2" name="Google Shape;172;p20"/>
          <p:cNvGrpSpPr/>
          <p:nvPr/>
        </p:nvGrpSpPr>
        <p:grpSpPr>
          <a:xfrm>
            <a:off x="762000" y="2952750"/>
            <a:ext cx="10668000" cy="1238400"/>
            <a:chOff x="762000" y="2952750"/>
            <a:chExt cx="10668000" cy="1238400"/>
          </a:xfrm>
        </p:grpSpPr>
        <p:sp>
          <p:nvSpPr>
            <p:cNvPr id="173" name="Google Shape;173;p20"/>
            <p:cNvSpPr/>
            <p:nvPr/>
          </p:nvSpPr>
          <p:spPr>
            <a:xfrm>
              <a:off x="762000" y="2952750"/>
              <a:ext cx="10668000" cy="1238400"/>
            </a:xfrm>
            <a:prstGeom prst="roundRect">
              <a:avLst>
                <a:gd fmla="val 9230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20"/>
            <p:cNvSpPr txBox="1"/>
            <p:nvPr/>
          </p:nvSpPr>
          <p:spPr>
            <a:xfrm>
              <a:off x="2381250" y="3095625"/>
              <a:ext cx="8763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715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Source: www.istockphoto.com</a:t>
              </a:r>
              <a:endParaRPr b="1" sz="715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55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https://media.istockphoto.com/id/1222035078/vector/realistic-comet-meteorite-an-asteroid-in-motion-burns-against-the-background-of-outer-space.jpg?s=170667a&amp;w=0&amp;k=20&amp;c=oafDNGzitDtb543n53fjjKCwYaLePFZTEXIWng-g9Tc=</a:t>
              </a:r>
              <a:endParaRPr sz="55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75" name="Google Shape;175;p20"/>
          <p:cNvGrpSpPr/>
          <p:nvPr/>
        </p:nvGrpSpPr>
        <p:grpSpPr>
          <a:xfrm>
            <a:off x="762000" y="4381500"/>
            <a:ext cx="10668000" cy="1238400"/>
            <a:chOff x="762000" y="4381500"/>
            <a:chExt cx="10668000" cy="1238400"/>
          </a:xfrm>
        </p:grpSpPr>
        <p:sp>
          <p:nvSpPr>
            <p:cNvPr id="176" name="Google Shape;176;p20"/>
            <p:cNvSpPr/>
            <p:nvPr/>
          </p:nvSpPr>
          <p:spPr>
            <a:xfrm>
              <a:off x="762000" y="4381500"/>
              <a:ext cx="10668000" cy="1238400"/>
            </a:xfrm>
            <a:prstGeom prst="roundRect">
              <a:avLst>
                <a:gd fmla="val 9230" name="adj"/>
              </a:avLst>
            </a:prstGeom>
            <a:solidFill>
              <a:srgbClr val="161B22"/>
            </a:solidFill>
            <a:ln cap="flat" cmpd="sng" w="9525">
              <a:solidFill>
                <a:srgbClr val="30363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0"/>
            <p:cNvSpPr txBox="1"/>
            <p:nvPr/>
          </p:nvSpPr>
          <p:spPr>
            <a:xfrm>
              <a:off x="2381250" y="4524375"/>
              <a:ext cx="8763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300">
                  <a:solidFill>
                    <a:srgbClr val="38BDF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Source: creator.nightcafe.studio</a:t>
              </a:r>
              <a:endParaRPr b="1" sz="1300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94A3B8"/>
                  </a:solidFill>
                  <a:latin typeface="Inter"/>
                  <a:ea typeface="Inter"/>
                  <a:cs typeface="Inter"/>
                  <a:sym typeface="Inter"/>
                </a:rPr>
                <a:t>[link removed]</a:t>
              </a:r>
              <a:endParaRPr sz="10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pic>
        <p:nvPicPr>
          <p:cNvPr id="178" name="Google Shape;178;p20"/>
          <p:cNvPicPr preferRelativeResize="0"/>
          <p:nvPr/>
        </p:nvPicPr>
        <p:blipFill rotWithShape="1">
          <a:blip r:embed="rId4">
            <a:alphaModFix/>
          </a:blip>
          <a:srcRect b="0" l="5923" r="5932" t="0"/>
          <a:stretch/>
        </p:blipFill>
        <p:spPr>
          <a:xfrm>
            <a:off x="952500" y="1714500"/>
            <a:ext cx="1333500" cy="8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 rotWithShape="1">
          <a:blip r:embed="rId5">
            <a:alphaModFix/>
          </a:blip>
          <a:srcRect b="0" l="5923" r="5932" t="0"/>
          <a:stretch/>
        </p:blipFill>
        <p:spPr>
          <a:xfrm>
            <a:off x="952500" y="3143250"/>
            <a:ext cx="1333500" cy="85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 rotWithShape="1">
          <a:blip r:embed="rId6">
            <a:alphaModFix/>
          </a:blip>
          <a:srcRect b="0" l="5923" r="5932" t="0"/>
          <a:stretch/>
        </p:blipFill>
        <p:spPr>
          <a:xfrm>
            <a:off x="952500" y="4572000"/>
            <a:ext cx="1333500" cy="8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